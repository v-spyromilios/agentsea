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d2cc8ba224fab" /><Relationship Type="http://schemas.openxmlformats.org/officeDocument/2006/relationships/extended-properties" Target="/docProps/app.xml" Id="R235bcef9b8354099" /><Relationship Type="http://schemas.openxmlformats.org/officeDocument/2006/relationships/officeDocument" Target="/ppt/presentation.xml" Id="R50bbdc58453e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fafad546774a7e"/>
  </p:sldMasterIdLst>
  <p:notesMasterIdLst>
    <p:notesMasterId xmlns:r="http://schemas.openxmlformats.org/officeDocument/2006/relationships" r:id="R992bf63b59e249fb"/>
  </p:notesMasterIdLst>
  <p:sldIdLst>
    <p:sldId xmlns:r="http://schemas.openxmlformats.org/officeDocument/2006/relationships" id="256" r:id="Rf24bd36a62604952"/>
    <p:sldId xmlns:r="http://schemas.openxmlformats.org/officeDocument/2006/relationships" id="257" r:id="R390f082c1f744307"/>
    <p:sldId xmlns:r="http://schemas.openxmlformats.org/officeDocument/2006/relationships" id="258" r:id="Rcdf0f16a865e4d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afad546774a7e" /><Relationship Type="http://schemas.openxmlformats.org/officeDocument/2006/relationships/theme" Target="/ppt/theme/theme1.xml" Id="Radbb1d85d2ab4b51" /><Relationship Type="http://schemas.openxmlformats.org/officeDocument/2006/relationships/notesMaster" Target="/ppt/notesMasters/notesMaster1.xml" Id="R992bf63b59e249fb" /><Relationship Type="http://schemas.openxmlformats.org/officeDocument/2006/relationships/presProps" Target="/ppt/presProps.xml" Id="Rcbb257c6c372486d" /><Relationship Type="http://schemas.openxmlformats.org/officeDocument/2006/relationships/viewProps" Target="/ppt/viewProps.xml" Id="Rfd1d219a1ecc432d" /><Relationship Type="http://schemas.openxmlformats.org/officeDocument/2006/relationships/tableStyles" Target="/ppt/tableStyles.xml" Id="R82d795bec5054807" /><Relationship Type="http://schemas.openxmlformats.org/officeDocument/2006/relationships/slide" Target="/ppt/slides/slide1.xml" Id="Rf24bd36a62604952" /><Relationship Type="http://schemas.openxmlformats.org/officeDocument/2006/relationships/slide" Target="/ppt/slides/slide2.xml" Id="R390f082c1f744307" /><Relationship Type="http://schemas.openxmlformats.org/officeDocument/2006/relationships/slide" Target="/ppt/slides/slide3.xml" Id="Rcdf0f16a865e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128ab2c5ba40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ec2880c7c842a6" /><Relationship Type="http://schemas.openxmlformats.org/officeDocument/2006/relationships/notesMaster" Target="/ppt/notesMasters/notesMaster1.xml" Id="R494799df8695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29e3192089418c" /><Relationship Type="http://schemas.openxmlformats.org/officeDocument/2006/relationships/notesMaster" Target="/ppt/notesMasters/notesMaster1.xml" Id="Rce3a9d5bfd0341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402b1ae8b64f7d" /><Relationship Type="http://schemas.openxmlformats.org/officeDocument/2006/relationships/notesMaster" Target="/ppt/notesMasters/notesMaster1.xml" Id="Raf71d8d5777d45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14a910f5e4218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4D59DC-4EE5-4991-952E-0DC13A241A8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6DB63D-15B2-4B57-83DD-CCC6F9DE857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8175cd88343ab" /><Relationship Type="http://schemas.openxmlformats.org/officeDocument/2006/relationships/theme" Target="/ppt/theme/theme1.xml" Id="R11af0cbdb2034a7f" /><Relationship Type="http://schemas.openxmlformats.org/officeDocument/2006/relationships/slideLayout" Target="/ppt/slideLayouts/slideLayout2.xml" Id="R324ecfd902e242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FFD97C-23AF-4011-A887-D7539C891BB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a6d8175cd88343ab"/>
    <p:sldLayoutId xmlns:r="http://schemas.openxmlformats.org/officeDocument/2006/relationships" id="2147483649" r:id="R324ecfd902e242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bc0449db014457" /><Relationship Type="http://schemas.openxmlformats.org/officeDocument/2006/relationships/notesSlide" Target="/ppt/notesSlides/notesSlide1.xml" Id="Rd31a3614c950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5d7fc917cd45e6" /><Relationship Type="http://schemas.openxmlformats.org/officeDocument/2006/relationships/notesSlide" Target="/ppt/notesSlides/notesSlide2.xml" Id="R53e057d194eb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0983481c44a26" /><Relationship Type="http://schemas.openxmlformats.org/officeDocument/2006/relationships/notesSlide" Target="/ppt/notesSlides/notesSlide3.xml" Id="Rc9eabae8c7fc41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8CA49A-5A94-4317-9138-821C5592F9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8D04A-2935-477E-9C62-63AF570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1E6A1-71CE-47F8-9561-A724E04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B4616-657D-48C8-8ABE-425DD4B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4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1FAC0-4168-4DE1-A085-2C201124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143000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FA1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D6624-D56B-4B5B-B399-A4F59591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30F3A-0372-4721-B87B-02C265E3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49180-E43A-4BC5-B6CD-377DB97D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2188F-33A8-48D5-9D61-5876F46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09167-0D1B-49A1-B896-9580E762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2527D-9DD0-4073-B378-63A40D3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2A39A-E7E8-438F-9D0D-FA5093E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AFFE1-3C57-4DE3-8C66-83356A61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96D1A-43C1-42C6-92CE-6D3103D3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8A1D2-4B16-4608-ACA8-036FC57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11225-D2C8-4889-9740-D2FCA054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28A04-4AC4-4497-9225-C0DC001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D610B-5D72-4376-9CCB-7BB455DC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C1778-B414-4302-84CA-78F5B76E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7276D-0183-4062-BDF0-F2DF5BAD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DFD11-96CB-4376-8C29-595EA5DD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662D-8585-4B69-BAE2-4C1A6F9A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4B8D5-5FCB-4887-A159-8A836FB1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1CD46-AE90-4877-A63F-10DF309B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DEA61-6DFE-4304-B471-7C26456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C78F1-BCD8-4C5E-9889-B64D3A97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AD627-08DA-433B-B080-73C959C3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E36B4-9884-4D56-ABEA-99DBB75B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D05F6-B322-425C-9571-6136133E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891D7-C9C8-4981-8E1F-CE9FD3C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C63F3A-62A4-402D-8BB8-433EA051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AFE508-33B0-41D5-BA55-3DF07917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2D87F5-B543-4B5F-A211-2DCA70A3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23C6F-A35E-41D6-B5F1-CA13C844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E72DE3-68B8-4A3D-A860-464CB0C1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6B740F-F310-4270-BF02-D78E3BB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33106B-CC51-4136-B490-EE7773A9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D1306D-31E0-4CDF-9FEE-3810E6FD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CFDCF2-76DC-451A-8BE4-3294733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ALGORAND X402 AGENTIC COMMERCE HACKATHON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62EE88-164D-446E-A4B8-FEC8040C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552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2EFE8"/>
                </a:solidFill>
              </a:defRPr>
            </a:pPr>
            <a:r>
              <a:rPr sz="4200" b="1">
                <a:solidFill>
                  <a:srgbClr val="F2EFE8"/>
                </a:solidFill>
              </a:rPr>
              <a:t>MarineAgent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0D541D-EC88-47B9-835E-4D3CEBCC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BCD0D2"/>
                </a:solidFill>
              </a:defRPr>
            </a:pPr>
            <a:r>
              <a:rPr sz="1800" b="0">
                <a:solidFill>
                  <a:srgbClr val="BCD0D2"/>
                </a:solidFill>
              </a:rPr>
              <a:t>Maritime decision intelligence for AI agents.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A9F30F-790E-41B8-A7C5-916732AF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791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3D3E24-A7CB-488F-A3E2-AAFE8790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5181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2EFE8"/>
                </a:solidFill>
              </a:defRPr>
            </a:pPr>
            <a:r>
              <a:rPr sz="1650" b="0">
                <a:solidFill>
                  <a:srgbClr val="F2EFE8"/>
                </a:solidFill>
              </a:rPr>
              <a:t>Hamburg Cargo’s AI agent requests ETA risk intelligence.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2EFE8"/>
                </a:solidFill>
              </a:defRPr>
            </a:pPr>
            <a:r>
              <a:rPr sz="1650" b="0">
                <a:solidFill>
                  <a:srgbClr val="F2EFE8"/>
                </a:solidFill>
              </a:rPr>
              <a:t>MarineAgent returns a real HTTP 402 x402 payment requirement.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2EFE8"/>
                </a:solidFill>
              </a:defRPr>
            </a:pPr>
            <a:r>
              <a:rPr sz="1650" b="0">
                <a:solidFill>
                  <a:srgbClr val="F2EFE8"/>
                </a:solidFill>
              </a:rPr>
              <a:t>After Algorand TestNet payment, ETA intelligence is released.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04BB22-29AB-4ABA-A59E-753DD9D9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811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2EFE8"/>
                </a:solidFill>
              </a:defRPr>
            </a:pPr>
            <a:r>
              <a:rPr sz="1950" b="1">
                <a:solidFill>
                  <a:srgbClr val="F2EFE8"/>
                </a:solidFill>
              </a:rPr>
              <a:t>Maritime intelligence sold per decision, not per dashboard.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0674DF-B81B-4CE2-8AC6-5B0B835D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52625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CD0D2"/>
                </a:solidFill>
              </a:defRPr>
            </a:pPr>
            <a:r>
              <a:rPr sz="1500" b="0">
                <a:solidFill>
                  <a:srgbClr val="BCD0D2"/>
                </a:solidFill>
              </a:rPr>
              <a:t>The product is operational confidence: can the supplier ETA be trusted, what is the likely delay, and what should the cargo agent do next.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6CA039-A076-44B8-8617-5892B82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191643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3240">
              <a:alpha val="85098"/>
            </a:srgbClr>
          </a:solidFill>
          <a:ln xmlns:a="http://schemas.openxmlformats.org/drawingml/2006/main"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E26E19-3754-4F07-8924-BE75B435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14675"/>
            <a:ext cx="16116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HTTP 402 checkpoint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BAD8CA-C706-42FD-82CE-550531EB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177927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F352A">
              <a:alpha val="85098"/>
            </a:srgbClr>
          </a:solidFill>
          <a:ln xmlns:a="http://schemas.openxmlformats.org/drawingml/2006/main"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7ED92C-ABE0-48F4-9885-319CE9C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29025"/>
            <a:ext cx="14744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Algorand TestNet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6F8EF5-B221-411C-8FDB-67443E52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200787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D2D17">
              <a:alpha val="60000"/>
            </a:srgbClr>
          </a:solidFill>
          <a:ln xmlns:a="http://schemas.openxmlformats.org/drawingml/2006/main"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ED2993-3223-4D87-95F6-8593FB12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43375"/>
            <a:ext cx="17030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D7A1"/>
                </a:solidFill>
              </a:defRPr>
            </a:pPr>
            <a:r>
              <a:rPr sz="1050" b="1">
                <a:solidFill>
                  <a:srgbClr val="FFD7A1"/>
                </a:solidFill>
              </a:rPr>
              <a:t>Decision intelligence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5EA7C6-9DFA-4AB4-8DEC-CD616322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4248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07BA3E-499D-4DBE-8E14-C0197F48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FD8CF"/>
                </a:solidFill>
              </a:defRPr>
            </a:pPr>
            <a:r>
              <a:rPr sz="1125" b="1">
                <a:solidFill>
                  <a:srgbClr val="9FD8CF"/>
                </a:solidFill>
              </a:rPr>
              <a:t>Hackathon proof path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2F5AAF-5BF2-433C-BE43-489F4CC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00650"/>
            <a:ext cx="3600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2EFE8"/>
                </a:solidFill>
              </a:defRPr>
            </a:pPr>
            <a:r>
              <a:rPr sz="1275" b="0">
                <a:solidFill>
                  <a:srgbClr val="F2EFE8"/>
                </a:solidFill>
              </a:rPr>
              <a:t>Real HTTP 402, real Algorand TestNet payment, and paid ETA intelligence released only after settlement.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7CDBD4-A110-4302-938A-9BDDA2B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5C9F0F-C086-487C-9485-EE015FB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936FC2-B501-4CAC-844B-108CC96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Cargo Agent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3A8F73-54A1-41DA-ABF3-4A61ABA5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53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5D6CD"/>
                </a:solidFill>
              </a:defRPr>
            </a:pPr>
            <a:r>
              <a:rPr sz="2100" b="1">
                <a:solidFill>
                  <a:srgbClr val="95D6CD"/>
                </a:solidFill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437029-FB48-4BF8-A5D2-5C4714EB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E5673B-5D78-41EF-B58B-D6D7B6C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6455FE-B014-4833-BD12-79040D92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MarineAgent API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24168B-710F-432E-9477-C0A8E380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53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5D6CD"/>
                </a:solidFill>
              </a:defRPr>
            </a:pPr>
            <a:r>
              <a:rPr sz="2100" b="1">
                <a:solidFill>
                  <a:srgbClr val="95D6CD"/>
                </a:solidFill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3E8FBE-F354-4803-816E-CB4CC6B8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13A7A9-4549-41E1-BED9-A7B6E0C7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364744-3CBA-4F0A-A758-59B5CE3E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HTTP 402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81FEEA-3C27-4752-8722-84EB1991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953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B74D"/>
                </a:solidFill>
              </a:defRPr>
            </a:pPr>
            <a:r>
              <a:rPr sz="2100" b="1">
                <a:solidFill>
                  <a:srgbClr val="FFB74D"/>
                </a:solidFill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BD5E6A-22D7-419E-A275-E9E76FD4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A34500-EA24-4AA5-B307-FA2982C3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D9405F-1E01-44A8-88E3-C12C4C95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Algorand TestNet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7C1ACF-80C7-49A4-9B83-132EEC4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53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8F0C9"/>
                </a:solidFill>
              </a:defRPr>
            </a:pPr>
            <a:r>
              <a:rPr sz="2100" b="1">
                <a:solidFill>
                  <a:srgbClr val="B8F0C9"/>
                </a:solidFill>
              </a:rPr>
              <a:t>→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E59CAD-B9F4-4B08-8FE2-58BB3642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293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E0B9DC-8603-414B-8813-EB38023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293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5106F8-32EE-4069-BB76-22C75D7E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010275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ETA Intelligence</a:t>
            </a:r>
          </a:p>
        </p:txBody>
      </p:sp>
    </p:spTree>
    <p:extLst>
      <p:ext uri="{BB962C8B-B14F-4D97-AF65-F5344CB8AC3E}">
        <p14:creationId xmlns:p14="http://schemas.microsoft.com/office/powerpoint/2010/main" val="535324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8CA49A-5A94-4317-9138-821C5592F9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D8F97-8EDC-4C3C-B564-93E9819E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D0CA9-746D-48B6-9E2D-C6E4A0BD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3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9B9D7-230B-49D2-BD9A-6A9D33A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4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7E235-4A35-4870-944A-420E388B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-1143000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FA1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D9CDA-B359-4DC9-AB36-BC30D6FB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86740-3789-4AD3-B82B-D79F5553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13CCB-386C-4586-99BC-42D3F80A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94E21-5C06-4A5E-8C64-C1F03E92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53E62-1F96-439A-A92E-646AE0EE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95AF1-03F8-4F44-93FF-4F5628FA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B830B-D470-48DB-82D6-962F7E0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3137F-6B8B-4C43-8608-862A9EC5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19957-7214-46BF-8C37-93FB722B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D733A-DEEF-49E2-8E8C-C24C3C5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1B191-6C56-4289-BE93-91B09C8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F18B1-A46E-4447-A830-8ADF3737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D8B89-7D39-4541-BE43-770A0D5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93CF9-1809-4B26-9F8A-8F87F250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BDD67-638B-442D-89A3-1AEA07B4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3E89D-2DA3-4CF6-8211-522E12A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9FF6A-2F7A-4E15-9DE2-5ABB126B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41FD3-B4A3-4F30-A550-5B2EF450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A6695-57B2-4093-9996-6B42B43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5CAC34-3002-4E98-B585-F0557570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4F1AB-10D9-4566-9F17-D0D3AB73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85E989-8796-411B-9C39-72B8D6EE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0A9F7-A847-4F77-B5BB-CA027318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9BF47-10BB-4EDD-A0FE-58F6D56F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E6C0D5-3AB7-446D-876A-5894CC1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C78E0-9715-44E7-B424-A1A5A8DB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C8FE4-351B-49AE-99C9-74B0A198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373CE3-6A5E-45E5-9F1B-CCD9C66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71B401-7623-40D8-B97E-D1037362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502B01-96C3-45E4-BB01-C2872CC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96D18-8525-4D55-9189-7B112D7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BB9E12-2E23-4A3E-94F2-964FD7E0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B4A3A-9D91-41E8-A061-34529287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BAD540-C385-4909-8230-0C99D8C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FUTURE ETA PIPELINE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44DBB0-965C-44A1-B807-C3058AC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2EFE8"/>
                </a:solidFill>
              </a:defRPr>
            </a:pPr>
            <a:r>
              <a:rPr sz="3000" b="1">
                <a:solidFill>
                  <a:srgbClr val="F2EFE8"/>
                </a:solidFill>
              </a:rPr>
              <a:t>Real ETA Risk Requires More Than AIS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B1AA0D-146E-47EB-8991-C478140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CD0D2"/>
                </a:solidFill>
              </a:defRPr>
            </a:pPr>
            <a:r>
              <a:rPr sz="1425" b="0">
                <a:solidFill>
                  <a:srgbClr val="BCD0D2"/>
                </a:solidFill>
              </a:rPr>
              <a:t>MarineAgent sells operational judgment, not raw coordinates. ETA risk is produced from multiple maritime signals combined into a realistic arrival forecast.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72C693-7A1C-4AFB-B0BC-6FD6AB37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BC2FA8-DA21-474D-AB97-D9C5D547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E76C8E-B780-4C34-BC8A-2A96B912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Live Inputs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EA9D52-50B7-4300-A8D2-83CB52A3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Live AIS position, speed, course, destination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Remaining sea-route distance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Vessel profile, draught, service speed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ABD9F2-573D-4850-B172-24F63FCC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2A6426-E629-4D1F-8F95-272AB9BF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065DEF-8159-417B-A627-BCF274B7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242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Delay Drivers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B76C07-22DB-490E-88A4-F249E286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Marine weather and sea-state forecast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Port congestion and berth delay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Historical performance and uncertainty buffer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6D17D4-EB62-42CD-8D6A-DBCF376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A2D3C">
              <a:alpha val="80000"/>
            </a:srgbClr>
          </a:solidFill>
          <a:ln xmlns:a="http://schemas.openxmlformats.org/drawingml/2006/main"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8409D2-AC7C-4810-8E0E-6E5F19FA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0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C2CE7E-6B32-4EAA-A8E8-6141314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Operational Decision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6A7033-F36E-4515-8E6F-BF2FC117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Supplier ETA credibility score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Realistic ETA and delay risk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Recommended customer and warehouse action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4F5C74-1469-4919-A2DC-8A50070B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801350" cy="12001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4B6000-C5CD-4338-B29E-64A93810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FD8CF"/>
                </a:solidFill>
              </a:defRPr>
            </a:pPr>
            <a:r>
              <a:rPr sz="1125" b="1">
                <a:solidFill>
                  <a:srgbClr val="9FD8CF"/>
                </a:solidFill>
              </a:rPr>
              <a:t>ETA risk calculation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07E47D-104E-4106-8C1D-98ECF1CC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2EFE8"/>
                </a:solidFill>
              </a:defRPr>
            </a:pPr>
            <a:r>
              <a:rPr sz="825" b="0">
                <a:solidFill>
                  <a:srgbClr val="F2EFE8"/>
                </a:solidFill>
              </a:rPr>
              <a:t>Realistic ETA =</a:t>
            </a:r>
            <a:br/>
            <a:r>
              <a:rPr sz="825" b="0">
                <a:solidFill>
                  <a:srgbClr val="F2EFE8"/>
                </a:solidFill>
              </a:rPr>
              <a:t>now</a:t>
            </a:r>
            <a:br/>
            <a:r>
              <a:rPr sz="825" b="0">
                <a:solidFill>
                  <a:srgbClr val="F2EFE8"/>
                </a:solidFill>
              </a:rPr>
              <a:t>+ remaining sea-route distance / effective speed</a:t>
            </a:r>
            <a:br/>
            <a:r>
              <a:rPr sz="825" b="0">
                <a:solidFill>
                  <a:srgbClr val="F2EFE8"/>
                </a:solidFill>
              </a:rPr>
              <a:t>+ weather delay</a:t>
            </a:r>
            <a:br/>
            <a:r>
              <a:rPr sz="825" b="0">
                <a:solidFill>
                  <a:srgbClr val="F2EFE8"/>
                </a:solidFill>
              </a:rPr>
              <a:t>+ port congestion delay</a:t>
            </a:r>
            <a:br/>
            <a:r>
              <a:rPr sz="825" b="0">
                <a:solidFill>
                  <a:srgbClr val="F2EFE8"/>
                </a:solidFill>
              </a:rPr>
              <a:t>+ uncertainty buffer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7DE850-63E6-4E45-954C-91425045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10350"/>
            <a:ext cx="933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BCD0D2"/>
                </a:solidFill>
              </a:defRPr>
            </a:pPr>
            <a:r>
              <a:rPr sz="825" b="0">
                <a:solidFill>
                  <a:srgbClr val="BCD0D2"/>
                </a:solidFill>
              </a:rPr>
              <a:t>Future providers: AIS APIs, maritime routing APIs, marine weather APIs, and port congestion APIs.</a:t>
            </a:r>
          </a:p>
        </p:txBody>
      </p:sp>
    </p:spTree>
    <p:extLst>
      <p:ext uri="{BB962C8B-B14F-4D97-AF65-F5344CB8AC3E}">
        <p14:creationId xmlns:p14="http://schemas.microsoft.com/office/powerpoint/2010/main" val="213179399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D793E8-0C5F-4A95-A8A3-C4EA2B76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31C"/>
          </a:solidFill>
          <a:ln xmlns:a="http://schemas.openxmlformats.org/drawingml/2006/main" w="0">
            <a:solidFill>
              <a:srgbClr val="0313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892AC-52E9-44AC-9B6F-ADB85D89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-762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4D">
              <a:alpha val="9412"/>
            </a:srgbClr>
          </a:solidFill>
          <a:ln xmlns:a="http://schemas.openxmlformats.org/drawingml/2006/main" w="0">
            <a:solidFill>
              <a:srgbClr val="FFB74D">
                <a:alpha val="9412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FFB97-EADE-43F6-9F5C-06583F01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905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FA0">
              <a:alpha val="9412"/>
            </a:srgbClr>
          </a:solidFill>
          <a:ln xmlns:a="http://schemas.openxmlformats.org/drawingml/2006/main" w="0">
            <a:solidFill>
              <a:srgbClr val="4CAFA0">
                <a:alpha val="9412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3CFC8-8065-435D-AD9B-DE04152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801C6-0571-471F-9EE2-694D2FDF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39AAE-097D-4AFE-B6C4-F887BF2C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C242E-8984-4611-B8A2-FCA778BD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BE0FE-FE63-46B5-98EB-A2928C50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4A369-C133-447E-93B8-081FA85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3247A-78BF-4C40-B03C-4BA5B914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218A9-FE45-41D8-AD3D-4957BB9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67F02-0AC3-4F5E-9C29-6E3C3FAB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E27E3-6478-4755-AF0D-41B3300B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59C4E-5356-40EF-B070-AA928FA7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99DFF-3F8C-41FA-A911-8E672F7E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1038C-D82E-436C-8EEF-391D77D0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F1FEE-6FAC-4F40-A8BA-28B425F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637FC-EF34-45D5-BEB4-4775DC6D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1028A-FEB7-4CDB-9E08-7B1CA802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DDDB3-12CB-49F2-8975-49272B84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1FC4E-1D8F-4C69-A7F7-77A50772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FB5D2-2A33-42E6-A991-BDD745D3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7D1E4-EB6D-4D7D-AEAE-7A316C8D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CE11E-EF74-4482-ACC3-55CB105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27D9D-640B-44F7-97A5-525E73D5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F8B14-465A-40C2-8C9C-AC31617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AFAF4-AEEC-49CF-B5DB-1A491A87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5EF5CC-8C0F-4FCE-84F5-06D34E8C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D5F18-9F77-40C3-ACD6-93CCCCB5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08E59F-0921-4C7B-8686-803AD0F9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8D10D1-39B7-4A88-ADEE-0D617B23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C7E31-4004-4E0F-A80D-8F485515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BA67B-B8F5-4DE1-AB12-8DF6160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60076E-07B2-4B12-9FE8-B03888B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20565C-1608-4661-A7CB-CA5A8460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E6277B-AB43-4F1D-A8F1-AAFB8FA1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668071-E7A2-4FFF-80F7-8519A4A9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0E6C18-31F9-4C8A-BFAB-7CFC6D8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FFFFFF">
                <a:alpha val="3922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13E30F-F248-497C-8C4D-E2DF85F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SECOND PAID INTELLIGENCE PRODUCT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137CF7-1C64-4FA4-BE11-613D4D47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E8"/>
                </a:solidFill>
              </a:defRPr>
            </a:pPr>
            <a:r>
              <a:rPr sz="2550" b="1">
                <a:solidFill>
                  <a:srgbClr val="F2EFE8"/>
                </a:solidFill>
              </a:rPr>
              <a:t>Second Paid Product: Port Congestion Intelligence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F97250-D339-4D3D-BEA9-A7262F5F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D8D8"/>
                </a:solidFill>
              </a:defRPr>
            </a:pPr>
            <a:r>
              <a:rPr sz="1425" b="0">
                <a:solidFill>
                  <a:srgbClr val="CDD8D8"/>
                </a:solidFill>
              </a:rPr>
              <a:t>MarineAgent is not a single paid endpoint. It sells multiple maritime decision products to AI agents.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E6CA5A-D692-4F4A-9D06-39FB0BB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886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EFE8"/>
                </a:solidFill>
              </a:defRPr>
            </a:pPr>
            <a:r>
              <a:rPr sz="1350" b="0">
                <a:solidFill>
                  <a:srgbClr val="F2EFE8"/>
                </a:solidFill>
              </a:rPr>
              <a:t>Hamburg Cargo’s AI agent can independently purchase Hamburg port congestion intelligence through the same x402 payment flow.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2EDE40-42CE-4D6C-B591-B4446D5C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90600"/>
            <a:ext cx="1562100" cy="3238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9FD8CF">
              <a:alpha val="12157"/>
            </a:srgbClr>
          </a:solidFill>
          <a:ln xmlns:a="http://schemas.openxmlformats.org/drawingml/2006/main" w="0">
            <a:solidFill>
              <a:srgbClr val="9FD8CF">
                <a:alpha val="12157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5D6CD"/>
                </a:solidFill>
              </a:defRPr>
            </a:pPr>
            <a:r>
              <a:rPr sz="975" b="1">
                <a:solidFill>
                  <a:srgbClr val="95D6CD"/>
                </a:solidFill>
              </a:rPr>
              <a:t>Deterministic demo data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3CE688-C93F-4A7C-8A64-71705702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276600" cy="24574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AC6BF3-9354-4D6E-A427-00538804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5D6CD"/>
                </a:solidFill>
              </a:defRPr>
            </a:pPr>
            <a:r>
              <a:rPr sz="900" b="1">
                <a:solidFill>
                  <a:srgbClr val="95D6CD"/>
                </a:solidFill>
              </a:rPr>
              <a:t>REQUEST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00E251-6404-4628-9C98-D61E936B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FE8"/>
                </a:solidFill>
              </a:defRPr>
            </a:pPr>
            <a:r>
              <a:rPr sz="1800" b="1">
                <a:solidFill>
                  <a:srgbClr val="F2EFE8"/>
                </a:solidFill>
              </a:rPr>
              <a:t>Port purchase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D2416E-44F3-482C-A401-FC793944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9899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Port: Hamburg / DEHAM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Product: Port Congestion Intelligence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Endpoint: /v1/ports/DEHAM/congestion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8BEE9B-3CD7-4073-A396-601DAD25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276600" cy="24574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9525">
            <a:solidFill>
              <a:srgbClr val="FFB74D">
                <a:alpha val="20000"/>
              </a:srgbClr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61806F-5FF0-4876-919F-689CC5F9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7A1"/>
                </a:solidFill>
              </a:defRPr>
            </a:pPr>
            <a:r>
              <a:rPr sz="900" b="1">
                <a:solidFill>
                  <a:srgbClr val="FFD7A1"/>
                </a:solidFill>
              </a:rPr>
              <a:t>X402 PAYMENT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C2E24B-F8AA-4E07-A4FE-B57C5A3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FE8"/>
                </a:solidFill>
              </a:defRPr>
            </a:pPr>
            <a:r>
              <a:rPr sz="1800" b="1">
                <a:solidFill>
                  <a:srgbClr val="F2EFE8"/>
                </a:solidFill>
              </a:rPr>
              <a:t>Same paywall 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B84E85-EEBA-4160-83CC-526605E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9696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Real HTTP 402 checkpoint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Algorand TestNet x402 payment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0.02 USDC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Paid result released only after payment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991205-B8E2-4EC4-AB8E-3E072FA6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3276600" cy="24574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82635">
              <a:alpha val="90196"/>
            </a:srgbClr>
          </a:solidFill>
          <a:ln xmlns:a="http://schemas.openxmlformats.org/drawingml/2006/main" w="9525">
            <a:solidFill>
              <a:srgbClr val="57D692">
                <a:alpha val="2000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EFE6CA-4EFF-49FF-9695-B7659607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F0C9"/>
                </a:solidFill>
              </a:defRPr>
            </a:pPr>
            <a:r>
              <a:rPr sz="900" b="1">
                <a:solidFill>
                  <a:srgbClr val="B8F0C9"/>
                </a:solidFill>
              </a:rPr>
              <a:t>INTELLIGENCE OUTPUT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584FE0-D11A-4685-978F-7CDFADC2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EFE8"/>
                </a:solidFill>
              </a:defRPr>
            </a:pPr>
            <a:r>
              <a:rPr sz="1800" b="1">
                <a:solidFill>
                  <a:srgbClr val="F2EFE8"/>
                </a:solidFill>
              </a:rPr>
              <a:t>Operational signal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F88C6B-A2E8-433F-83EC-FFDE5DBB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1000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8249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Congestion: high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Average delay: 28h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Waiting vessels: 14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Berth utilization: 91%</a:t>
            </a:r>
          </a:p>
          <a:p xmlns:a="http://schemas.openxmlformats.org/drawingml/2006/main">
            <a:pPr algn="l">
              <a:defRPr sz="1575" b="0">
                <a:solidFill>
                  <a:srgbClr val="CDD8D8"/>
                </a:solidFill>
              </a:defRPr>
            </a:pPr>
            <a:r>
              <a:rPr sz="1575" b="0">
                <a:solidFill>
                  <a:srgbClr val="CDD8D8"/>
                </a:solidFill>
              </a:rPr>
              <a:t>Assessment: berth waiting times likely extended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AA92F2-6FD0-4269-9DC7-E2BF666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5524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81E28">
              <a:alpha val="80000"/>
            </a:srgbClr>
          </a:solidFill>
          <a:ln xmlns:a="http://schemas.openxmlformats.org/drawingml/2006/main" w="9525">
            <a:solidFill>
              <a:srgbClr val="FFFFFF">
                <a:alpha val="12157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94ED4D-7F18-4343-A650-2DD01E2D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91200"/>
            <a:ext cx="998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ETA Risk and Port Congestion are independent purchasable intelligence products.</a:t>
            </a:r>
          </a:p>
        </p:txBody>
      </p:sp>
    </p:spTree>
    <p:extLst>
      <p:ext uri="{BB962C8B-B14F-4D97-AF65-F5344CB8AC3E}">
        <p14:creationId xmlns:p14="http://schemas.microsoft.com/office/powerpoint/2010/main" val="2122629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2026-06-06T22:54:19.5510000Z</dcterms:created>
  <dcterms:modified xsi:type="dcterms:W3CDTF">2026-06-06T22:54:19.5510000Z</dcterms:modified>
</coreProperties>
</file>