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c995fa88134759" /><Relationship Type="http://schemas.openxmlformats.org/officeDocument/2006/relationships/extended-properties" Target="/docProps/app.xml" Id="R9e3befa0368242be" /><Relationship Type="http://schemas.openxmlformats.org/officeDocument/2006/relationships/officeDocument" Target="/ppt/presentation.xml" Id="R5a7a1f271731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49201b11a4b98"/>
  </p:sldMasterIdLst>
  <p:notesMasterIdLst>
    <p:notesMasterId xmlns:r="http://schemas.openxmlformats.org/officeDocument/2006/relationships" r:id="Rf16d3821beb848ec"/>
  </p:notesMasterIdLst>
  <p:sldIdLst>
    <p:sldId xmlns:r="http://schemas.openxmlformats.org/officeDocument/2006/relationships" id="256" r:id="R0b259cc325ee4f1f"/>
    <p:sldId xmlns:r="http://schemas.openxmlformats.org/officeDocument/2006/relationships" id="257" r:id="Rdf96a86f909b4d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49201b11a4b98" /><Relationship Type="http://schemas.openxmlformats.org/officeDocument/2006/relationships/theme" Target="/ppt/theme/theme1.xml" Id="Rb2286f75860e4e39" /><Relationship Type="http://schemas.openxmlformats.org/officeDocument/2006/relationships/notesMaster" Target="/ppt/notesMasters/notesMaster1.xml" Id="Rf16d3821beb848ec" /><Relationship Type="http://schemas.openxmlformats.org/officeDocument/2006/relationships/presProps" Target="/ppt/presProps.xml" Id="R7f615fc0e8f14c89" /><Relationship Type="http://schemas.openxmlformats.org/officeDocument/2006/relationships/viewProps" Target="/ppt/viewProps.xml" Id="Racc90c95e9b44362" /><Relationship Type="http://schemas.openxmlformats.org/officeDocument/2006/relationships/tableStyles" Target="/ppt/tableStyles.xml" Id="Rca83cf2c68b54603" /><Relationship Type="http://schemas.openxmlformats.org/officeDocument/2006/relationships/slide" Target="/ppt/slides/slide1.xml" Id="R0b259cc325ee4f1f" /><Relationship Type="http://schemas.openxmlformats.org/officeDocument/2006/relationships/slide" Target="/ppt/slides/slide2.xml" Id="Rdf96a86f909b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0c72487416440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979108d4045a4" /><Relationship Type="http://schemas.openxmlformats.org/officeDocument/2006/relationships/notesMaster" Target="/ppt/notesMasters/notesMaster1.xml" Id="Ree1838eeb85f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e8e0db4c09433e" /><Relationship Type="http://schemas.openxmlformats.org/officeDocument/2006/relationships/notesMaster" Target="/ppt/notesMasters/notesMaster1.xml" Id="Rc283de09ee8147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4f453efca450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D4C445C-7907-428F-85DF-AB4EB00C1BD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939676-9ACB-44D6-82D9-DD35483A604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4D59DC-4EE5-4991-952E-0DC13A241A8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6DB63D-15B2-4B57-83DD-CCC6F9DE857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8CA49A-5A94-4317-9138-821C5592F9E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30c3c7accbb472b" /><Relationship Type="http://schemas.openxmlformats.org/officeDocument/2006/relationships/slideLayout" Target="/ppt/slideLayouts/slideLayout2.xml" Id="R26f7c7d2b0394c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FFD97C-23AF-4011-A887-D7539C891BB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f7c7d2b0394c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6e08ca83c4fce" /><Relationship Type="http://schemas.openxmlformats.org/officeDocument/2006/relationships/notesSlide" Target="/ppt/notesSlides/notesSlide1.xml" Id="R14d1a1eb4f554a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3fd609153d4d1d" /><Relationship Type="http://schemas.openxmlformats.org/officeDocument/2006/relationships/notesSlide" Target="/ppt/notesSlides/notesSlide2.xml" Id="Rc9956fae97e24c42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3131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 Number Placeholder 5">
            <a:extLst>
              <a:ext uri="{FF2B5EF4-FFF2-40B4-BE49-F238E27FC236}">
                <ns2:creationId id="{DA8CA49A-5A94-4317-9138-821C5592F9E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t/>
            </a:r>
          </a:p>
        </p:txBody>
      </p:sp>
      <p:sp>
        <p:nvSpPr>
          <p:cNvPr id="2" name="">
            <a:extLst>
              <a:ext uri="{FF2B5EF4-FFF2-40B4-BE49-F238E27FC236}">
                <ns2:creationId id="{ECC8D04A-2935-477E-9C62-63AF570DCE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2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D511E6A1-71CE-47F8-9561-A724E0446E81}"/>
              </a:ext>
            </a:extLst>
          </p:cNvPr>
          <p:cNvSpPr>
            <a:spLocks noGrp="1"/>
          </p:cNvSpPr>
          <p:nvPr/>
        </p:nvSpPr>
        <p:spPr>
          <a:xfrm>
            <a:off x="0" y="2857500"/>
            <a:ext cx="12192000" cy="4000500"/>
          </a:xfrm>
          <a:prstGeom prst="rect">
            <a:avLst/>
          </a:prstGeom>
          <a:solidFill>
            <a:srgbClr val="0313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DD6B4616-657D-48C8-8ABE-425DD4BCAC5E}"/>
              </a:ext>
            </a:extLst>
          </p:cNvPr>
          <p:cNvSpPr>
            <a:spLocks noGrp="1"/>
          </p:cNvSpPr>
          <p:nvPr/>
        </p:nvSpPr>
        <p:spPr>
          <a:xfrm>
            <a:off x="-1714500" y="-1524000"/>
            <a:ext cx="4953000" cy="4953000"/>
          </a:xfrm>
          <a:prstGeom prst="ellipse">
            <a:avLst/>
          </a:prstGeom>
          <a:solidFill>
            <a:srgbClr val="FFB74D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7B91FAC0-4168-4DE1-A085-2C2011242DDB}"/>
              </a:ext>
            </a:extLst>
          </p:cNvPr>
          <p:cNvSpPr>
            <a:spLocks noGrp="1"/>
          </p:cNvSpPr>
          <p:nvPr/>
        </p:nvSpPr>
        <p:spPr>
          <a:xfrm>
            <a:off x="8477250" y="-1143000"/>
            <a:ext cx="4476750" cy="4476750"/>
          </a:xfrm>
          <a:prstGeom prst="ellipse">
            <a:avLst/>
          </a:prstGeom>
          <a:solidFill>
            <a:srgbClr val="4CAFA1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CB3D6624-D56B-4B5B-B399-A4F5959164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17C30F3A-0372-4721-B87B-02C265E35B12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0449180-E43A-4BC5-B6CD-377DB97DF3F8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1B22188F-33A8-48D5-9D61-5876F46C666B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2DC09167-0D1B-49A1-B896-9580E76255E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0D12527D-9DD0-4073-B378-63A40D3B7FBA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4482A39A-E7E8-438F-9D0D-FA5093EB7122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321AFFE1-3C57-4DE3-8C66-83356A61A14B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F8E96D1A-43C1-42C6-92CE-6D3103D3B884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D378A1D2-4B16-4608-ACA8-036FC57C2816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81011225-D2C8-4889-9740-D2FCA0544178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2CA28A04-4AC4-4497-9225-C0DC0011221D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B2BD610B-5D72-4376-9CCB-7BB455DC21F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FAAC1778-B414-4302-84CA-78F5B76ECCB8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2077276D-0183-4062-BDF0-F2DF5BAD45C6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025DFD11-96CB-4376-8C29-595EA5DD083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DFE0662D-8585-4B69-BAE2-4C1A6F9A5B7B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3ED4B8D5-5FCB-4887-A159-8A836FB1014F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1F11CD46-AE90-4877-A63F-10DF309BE501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2B8DEA61-6DFE-4304-B471-7C26456047AF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8AFC78F1-BCD8-4C5E-9889-B64D3A971627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DCBAD627-08DA-433B-B080-73C959C392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AB0E36B4-9884-4D56-ABEA-99DBB75B9C2E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445D05F6-B322-425C-9571-6136133E35FA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486891D7-C9C8-4981-8E1F-CE9FD3C9C648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44C63F3A-62A4-402D-8BB8-433EA05173DE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AEAFE508-33B0-41D5-BA55-3DF079178AC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592D87F5-B543-4B5F-A211-2DCA70A33D74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4ED23C6F-A35E-41D6-B5F1-CA13C8447FC7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2DE72DE3-68B8-4A3D-A860-464CB0C1496E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3B6B740F-F310-4270-BF02-D78E3BB28F7D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7133106B-CC51-4136-B490-EE7773A922BC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8ED1306D-31E0-4CDF-9FEE-3810E6FD84DE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B9CFDCF2-76DC-451A-8BE4-32947338D3BE}"/>
              </a:ext>
            </a:extLst>
          </p:cNvPr>
          <p:cNvSpPr>
            <a:spLocks noGrp="1"/>
          </p:cNvSpPr>
          <p:nvPr/>
        </p:nvSpPr>
        <p:spPr>
          <a:xfrm>
            <a:off x="742950" y="5905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ALGORAND X402 AGENTIC COMMERCE HACKATHON</a:t>
            </a:r>
          </a:p>
        </p:txBody>
      </p:sp>
      <p:sp>
        <p:nvSpPr>
          <p:cNvPr id="40" name="">
            <a:extLst>
              <a:ext uri="{FF2B5EF4-FFF2-40B4-BE49-F238E27FC236}">
                <ns2:creationId id="{2462EE88-164D-446E-A4B8-FEC8040CE462}"/>
              </a:ext>
            </a:extLst>
          </p:cNvPr>
          <p:cNvSpPr>
            <a:spLocks noGrp="1"/>
          </p:cNvSpPr>
          <p:nvPr/>
        </p:nvSpPr>
        <p:spPr>
          <a:xfrm>
            <a:off x="704850" y="1123950"/>
            <a:ext cx="5524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F2EFE8"/>
                </a:solidFill>
              </a:defRPr>
            </a:pPr>
            <a:r>
              <a:rPr sz="4200" b="1">
                <a:solidFill>
                  <a:srgbClr val="F2EFE8"/>
                </a:solidFill>
              </a:rPr>
              <a:t>MarineAgent</a:t>
            </a:r>
          </a:p>
        </p:txBody>
      </p:sp>
      <p:sp>
        <p:nvSpPr>
          <p:cNvPr id="41" name="">
            <a:extLst>
              <a:ext uri="{FF2B5EF4-FFF2-40B4-BE49-F238E27FC236}">
                <ns2:creationId id="{590D541D-EC88-47B9-835E-4D3CEBCCA0AF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590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BCD0D2"/>
                </a:solidFill>
              </a:defRPr>
            </a:pPr>
            <a:r>
              <a:rPr sz="1800" b="0">
                <a:solidFill>
                  <a:srgbClr val="BCD0D2"/>
                </a:solidFill>
              </a:rPr>
              <a:t>Maritime decision intelligence for AI agents.</a:t>
            </a:r>
          </a:p>
        </p:txBody>
      </p:sp>
      <p:sp>
        <p:nvSpPr>
          <p:cNvPr id="42" name="">
            <a:extLst>
              <a:ext uri="{FF2B5EF4-FFF2-40B4-BE49-F238E27FC236}">
                <ns2:creationId id="{DFA9F30F-790E-41B8-A7C5-916732AF64E8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5791200" cy="1619250"/>
          </a:xfrm>
          <a:prstGeom prst="roundRect">
            <a:avLst>
              <a:gd name="adj" fmla="val 4706"/>
            </a:avLst>
          </a:prstGeom>
          <a:solidFill>
            <a:srgbClr val="082635">
              <a:alpha val="90196"/>
            </a:srgbClr>
          </a:solidFill>
          <a:ln w="1143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B53D3E24-A7CB-488F-A3E2-AAFE8790BBB6}"/>
              </a:ext>
            </a:extLst>
          </p:cNvPr>
          <p:cNvSpPr>
            <a:spLocks noGrp="1"/>
          </p:cNvSpPr>
          <p:nvPr/>
        </p:nvSpPr>
        <p:spPr>
          <a:xfrm>
            <a:off x="1028700" y="3086100"/>
            <a:ext cx="51816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2EFE8"/>
                </a:solidFill>
              </a:defRPr>
            </a:pPr>
            <a:r>
              <a:rPr sz="1650" b="0">
                <a:solidFill>
                  <a:srgbClr val="F2EFE8"/>
                </a:solidFill>
              </a:rPr>
              <a:t>Hamburg Cargo’s AI agent requests ETA risk intelligence.</a:t>
            </a:r>
          </a:p>
          <a:p>
            <a:pPr algn="l">
              <a:defRPr sz="1650" b="0">
                <a:solidFill>
                  <a:srgbClr val="F2EFE8"/>
                </a:solidFill>
              </a:defRPr>
            </a:pPr>
            <a:r>
              <a:rPr sz="1650" b="0">
                <a:solidFill>
                  <a:srgbClr val="F2EFE8"/>
                </a:solidFill>
              </a:rPr>
              <a:t>MarineAgent returns a real HTTP 402 x402 payment requirement.</a:t>
            </a:r>
          </a:p>
          <a:p>
            <a:pPr algn="l">
              <a:defRPr sz="1650" b="0">
                <a:solidFill>
                  <a:srgbClr val="F2EFE8"/>
                </a:solidFill>
              </a:defRPr>
            </a:pPr>
            <a:r>
              <a:rPr sz="1650" b="0">
                <a:solidFill>
                  <a:srgbClr val="F2EFE8"/>
                </a:solidFill>
              </a:rPr>
              <a:t>After Algorand TestNet payment, ETA intelligence is released.</a:t>
            </a:r>
          </a:p>
        </p:txBody>
      </p:sp>
      <p:sp>
        <p:nvSpPr>
          <p:cNvPr id="44" name="">
            <a:extLst>
              <a:ext uri="{FF2B5EF4-FFF2-40B4-BE49-F238E27FC236}">
                <ns2:creationId id="{E304BB22-29AB-4ABA-A59E-753DD9D95B00}"/>
              </a:ext>
            </a:extLst>
          </p:cNvPr>
          <p:cNvSpPr>
            <a:spLocks noGrp="1"/>
          </p:cNvSpPr>
          <p:nvPr/>
        </p:nvSpPr>
        <p:spPr>
          <a:xfrm>
            <a:off x="7124700" y="1181100"/>
            <a:ext cx="371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2EFE8"/>
                </a:solidFill>
              </a:defRPr>
            </a:pPr>
            <a:r>
              <a:rPr sz="1950" b="1">
                <a:solidFill>
                  <a:srgbClr val="F2EFE8"/>
                </a:solidFill>
              </a:rPr>
              <a:t>Maritime intelligence sold per decision, not per dashboard.</a:t>
            </a:r>
          </a:p>
        </p:txBody>
      </p:sp>
      <p:sp>
        <p:nvSpPr>
          <p:cNvPr id="45" name="">
            <a:extLst>
              <a:ext uri="{FF2B5EF4-FFF2-40B4-BE49-F238E27FC236}">
                <ns2:creationId id="{890674DF-B81B-4CE2-8AC6-5B0B835DF219}"/>
              </a:ext>
            </a:extLst>
          </p:cNvPr>
          <p:cNvSpPr>
            <a:spLocks noGrp="1"/>
          </p:cNvSpPr>
          <p:nvPr/>
        </p:nvSpPr>
        <p:spPr>
          <a:xfrm>
            <a:off x="7124700" y="1952625"/>
            <a:ext cx="3810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BCD0D2"/>
                </a:solidFill>
              </a:defRPr>
            </a:pPr>
            <a:r>
              <a:rPr sz="1500" b="0">
                <a:solidFill>
                  <a:srgbClr val="BCD0D2"/>
                </a:solidFill>
              </a:rPr>
              <a:t>The product is operational confidence: can the supplier ETA be trusted, what is the likely delay, and what should the cargo agent do next.</a:t>
            </a:r>
          </a:p>
        </p:txBody>
      </p:sp>
      <p:sp>
        <p:nvSpPr>
          <p:cNvPr id="46" name="">
            <a:extLst>
              <a:ext uri="{FF2B5EF4-FFF2-40B4-BE49-F238E27FC236}">
                <ns2:creationId id="{006CA039-A076-44B8-8617-5892B8217E92}"/>
              </a:ext>
            </a:extLst>
          </p:cNvPr>
          <p:cNvSpPr>
            <a:spLocks noGrp="1"/>
          </p:cNvSpPr>
          <p:nvPr/>
        </p:nvSpPr>
        <p:spPr>
          <a:xfrm>
            <a:off x="7124700" y="3009900"/>
            <a:ext cx="1916430" cy="361950"/>
          </a:xfrm>
          <a:prstGeom prst="roundRect">
            <a:avLst>
              <a:gd name="adj" fmla="val 21053"/>
            </a:avLst>
          </a:prstGeom>
          <a:solidFill>
            <a:srgbClr val="0C3240">
              <a:alpha val="85098"/>
            </a:srgbClr>
          </a:solidFill>
          <a:ln w="762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7" name="">
            <a:extLst>
              <a:ext uri="{FF2B5EF4-FFF2-40B4-BE49-F238E27FC236}">
                <ns2:creationId id="{22E26E19-3754-4F07-8924-BE75B4354B8C}"/>
              </a:ext>
            </a:extLst>
          </p:cNvPr>
          <p:cNvSpPr>
            <a:spLocks noGrp="1"/>
          </p:cNvSpPr>
          <p:nvPr/>
        </p:nvSpPr>
        <p:spPr>
          <a:xfrm>
            <a:off x="7277100" y="3114675"/>
            <a:ext cx="161163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HTTP 402 checkpoint</a:t>
            </a:r>
          </a:p>
        </p:txBody>
      </p:sp>
      <p:sp>
        <p:nvSpPr>
          <p:cNvPr id="48" name="">
            <a:extLst>
              <a:ext uri="{FF2B5EF4-FFF2-40B4-BE49-F238E27FC236}">
                <ns2:creationId id="{23BAD8CA-C706-42FD-82CE-550531EB9F45}"/>
              </a:ext>
            </a:extLst>
          </p:cNvPr>
          <p:cNvSpPr>
            <a:spLocks noGrp="1"/>
          </p:cNvSpPr>
          <p:nvPr/>
        </p:nvSpPr>
        <p:spPr>
          <a:xfrm>
            <a:off x="7124700" y="3524250"/>
            <a:ext cx="1779270" cy="361950"/>
          </a:xfrm>
          <a:prstGeom prst="roundRect">
            <a:avLst>
              <a:gd name="adj" fmla="val 21053"/>
            </a:avLst>
          </a:prstGeom>
          <a:solidFill>
            <a:srgbClr val="0F352A">
              <a:alpha val="85098"/>
            </a:srgbClr>
          </a:solidFill>
          <a:ln w="762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9" name="">
            <a:extLst>
              <a:ext uri="{FF2B5EF4-FFF2-40B4-BE49-F238E27FC236}">
                <ns2:creationId id="{F47ED92C-ABE0-48F4-9885-319CE9C8AEAA}"/>
              </a:ext>
            </a:extLst>
          </p:cNvPr>
          <p:cNvSpPr>
            <a:spLocks noGrp="1"/>
          </p:cNvSpPr>
          <p:nvPr/>
        </p:nvSpPr>
        <p:spPr>
          <a:xfrm>
            <a:off x="7277100" y="3629025"/>
            <a:ext cx="147447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Algorand TestNet</a:t>
            </a:r>
          </a:p>
        </p:txBody>
      </p:sp>
      <p:sp>
        <p:nvSpPr>
          <p:cNvPr id="50" name="">
            <a:extLst>
              <a:ext uri="{FF2B5EF4-FFF2-40B4-BE49-F238E27FC236}">
                <ns2:creationId id="{9D6F8EF5-B221-411C-8FDB-67443E52030E}"/>
              </a:ext>
            </a:extLst>
          </p:cNvPr>
          <p:cNvSpPr>
            <a:spLocks noGrp="1"/>
          </p:cNvSpPr>
          <p:nvPr/>
        </p:nvSpPr>
        <p:spPr>
          <a:xfrm>
            <a:off x="7124700" y="4038600"/>
            <a:ext cx="2007870" cy="361950"/>
          </a:xfrm>
          <a:prstGeom prst="roundRect">
            <a:avLst>
              <a:gd name="adj" fmla="val 21053"/>
            </a:avLst>
          </a:prstGeom>
          <a:solidFill>
            <a:srgbClr val="3D2D17">
              <a:alpha val="60000"/>
            </a:srgbClr>
          </a:solidFill>
          <a:ln w="762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1" name="">
            <a:extLst>
              <a:ext uri="{FF2B5EF4-FFF2-40B4-BE49-F238E27FC236}">
                <ns2:creationId id="{CDED2993-3223-4D87-95F6-8593FB1242E6}"/>
              </a:ext>
            </a:extLst>
          </p:cNvPr>
          <p:cNvSpPr>
            <a:spLocks noGrp="1"/>
          </p:cNvSpPr>
          <p:nvPr/>
        </p:nvSpPr>
        <p:spPr>
          <a:xfrm>
            <a:off x="7277100" y="4143375"/>
            <a:ext cx="170307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D7A1"/>
                </a:solidFill>
              </a:defRPr>
            </a:pPr>
            <a:r>
              <a:rPr sz="1050" b="1">
                <a:solidFill>
                  <a:srgbClr val="FFD7A1"/>
                </a:solidFill>
              </a:rPr>
              <a:t>Decision intelligence</a:t>
            </a:r>
          </a:p>
        </p:txBody>
      </p:sp>
      <p:sp>
        <p:nvSpPr>
          <p:cNvPr id="52" name="">
            <a:extLst>
              <a:ext uri="{FF2B5EF4-FFF2-40B4-BE49-F238E27FC236}">
                <ns2:creationId id="{515EA7C6-9DFA-4AB4-8DEC-CD6163225733}"/>
              </a:ext>
            </a:extLst>
          </p:cNvPr>
          <p:cNvSpPr>
            <a:spLocks noGrp="1"/>
          </p:cNvSpPr>
          <p:nvPr/>
        </p:nvSpPr>
        <p:spPr>
          <a:xfrm>
            <a:off x="7048500" y="4800600"/>
            <a:ext cx="4248150" cy="876300"/>
          </a:xfrm>
          <a:prstGeom prst="roundRect">
            <a:avLst>
              <a:gd name="adj" fmla="val 8696"/>
            </a:avLst>
          </a:prstGeom>
          <a:solidFill>
            <a:srgbClr val="082635">
              <a:alpha val="90196"/>
            </a:srgbClr>
          </a:solidFill>
          <a:ln w="1143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3" name="">
            <a:extLst>
              <a:ext uri="{FF2B5EF4-FFF2-40B4-BE49-F238E27FC236}">
                <ns2:creationId id="{C507BA3E-499D-4DBE-8E14-C0197F487A66}"/>
              </a:ext>
            </a:extLst>
          </p:cNvPr>
          <p:cNvSpPr>
            <a:spLocks noGrp="1"/>
          </p:cNvSpPr>
          <p:nvPr/>
        </p:nvSpPr>
        <p:spPr>
          <a:xfrm>
            <a:off x="7334250" y="50101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FD8CF"/>
                </a:solidFill>
              </a:defRPr>
            </a:pPr>
            <a:r>
              <a:rPr sz="1125" b="1">
                <a:solidFill>
                  <a:srgbClr val="9FD8CF"/>
                </a:solidFill>
              </a:rPr>
              <a:t>Hackathon proof path</a:t>
            </a:r>
          </a:p>
        </p:txBody>
      </p:sp>
      <p:sp>
        <p:nvSpPr>
          <p:cNvPr id="54" name="">
            <a:extLst>
              <a:ext uri="{FF2B5EF4-FFF2-40B4-BE49-F238E27FC236}">
                <ns2:creationId id="{142F5AAF-5BF2-433C-BE43-489F4CCEA35E}"/>
              </a:ext>
            </a:extLst>
          </p:cNvPr>
          <p:cNvSpPr>
            <a:spLocks noGrp="1"/>
          </p:cNvSpPr>
          <p:nvPr/>
        </p:nvSpPr>
        <p:spPr>
          <a:xfrm>
            <a:off x="7334250" y="5200650"/>
            <a:ext cx="3600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2EFE8"/>
                </a:solidFill>
              </a:defRPr>
            </a:pPr>
            <a:r>
              <a:rPr sz="1275" b="0">
                <a:solidFill>
                  <a:srgbClr val="F2EFE8"/>
                </a:solidFill>
              </a:rPr>
              <a:t>Real HTTP 402, real Algorand TestNet payment, and paid ETA intelligence released only after settlement.</a:t>
            </a:r>
          </a:p>
        </p:txBody>
      </p:sp>
      <p:sp>
        <p:nvSpPr>
          <p:cNvPr id="55" name="">
            <a:extLst>
              <a:ext uri="{FF2B5EF4-FFF2-40B4-BE49-F238E27FC236}">
                <ns2:creationId id="{577CDBD4-A110-4302-938A-9BDDA2BD8EC1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0A2D3C">
              <a:alpha val="80000"/>
            </a:srgbClr>
          </a:solidFill>
          <a:ln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6" name="">
            <a:extLst>
              <a:ext uri="{FF2B5EF4-FFF2-40B4-BE49-F238E27FC236}">
                <ns2:creationId id="{995C9F0F-C086-487C-9485-EE015FB40CB1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619250" cy="57150"/>
          </a:xfrm>
          <a:prstGeom prst="rect">
            <a:avLst/>
          </a:prstGeom>
          <a:solidFill>
            <a:srgbClr val="95D6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>
              <a:ext uri="{FF2B5EF4-FFF2-40B4-BE49-F238E27FC236}">
                <ns2:creationId id="{55936FC2-B501-4CAC-844B-108CC9696B76}"/>
              </a:ext>
            </a:extLst>
          </p:cNvPr>
          <p:cNvSpPr>
            <a:spLocks noGrp="1"/>
          </p:cNvSpPr>
          <p:nvPr/>
        </p:nvSpPr>
        <p:spPr>
          <a:xfrm>
            <a:off x="876300" y="6010275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Cargo Agent</a:t>
            </a:r>
          </a:p>
        </p:txBody>
      </p:sp>
      <p:sp>
        <p:nvSpPr>
          <p:cNvPr id="58" name="">
            <a:extLst>
              <a:ext uri="{FF2B5EF4-FFF2-40B4-BE49-F238E27FC236}">
                <ns2:creationId id="{753A8F73-54A1-41DA-ABF3-4A61ABA5F9AD}"/>
              </a:ext>
            </a:extLst>
          </p:cNvPr>
          <p:cNvSpPr>
            <a:spLocks noGrp="1"/>
          </p:cNvSpPr>
          <p:nvPr/>
        </p:nvSpPr>
        <p:spPr>
          <a:xfrm>
            <a:off x="2438400" y="5953125"/>
            <a:ext cx="24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95D6CD"/>
                </a:solidFill>
              </a:defRPr>
            </a:pPr>
            <a:r>
              <a:rPr sz="2100" b="1">
                <a:solidFill>
                  <a:srgbClr val="95D6CD"/>
                </a:solidFill>
              </a:rPr>
              <a:t>→</a:t>
            </a:r>
          </a:p>
        </p:txBody>
      </p:sp>
      <p:sp>
        <p:nvSpPr>
          <p:cNvPr id="59" name="">
            <a:extLst>
              <a:ext uri="{FF2B5EF4-FFF2-40B4-BE49-F238E27FC236}">
                <ns2:creationId id="{82437029-FB48-4BF8-A5D2-5C4714EB8686}"/>
              </a:ext>
            </a:extLst>
          </p:cNvPr>
          <p:cNvSpPr>
            <a:spLocks noGrp="1"/>
          </p:cNvSpPr>
          <p:nvPr/>
        </p:nvSpPr>
        <p:spPr>
          <a:xfrm>
            <a:off x="2514600" y="582930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0A2D3C">
              <a:alpha val="80000"/>
            </a:srgbClr>
          </a:solidFill>
          <a:ln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60" name="">
            <a:extLst>
              <a:ext uri="{FF2B5EF4-FFF2-40B4-BE49-F238E27FC236}">
                <ns2:creationId id="{92E5673B-5D78-41EF-B58B-D6D7B6C8F7A6}"/>
              </a:ext>
            </a:extLst>
          </p:cNvPr>
          <p:cNvSpPr>
            <a:spLocks noGrp="1"/>
          </p:cNvSpPr>
          <p:nvPr/>
        </p:nvSpPr>
        <p:spPr>
          <a:xfrm>
            <a:off x="2514600" y="5829300"/>
            <a:ext cx="1619250" cy="57150"/>
          </a:xfrm>
          <a:prstGeom prst="rect">
            <a:avLst/>
          </a:prstGeom>
          <a:solidFill>
            <a:srgbClr val="95D6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>
              <a:ext uri="{FF2B5EF4-FFF2-40B4-BE49-F238E27FC236}">
                <ns2:creationId id="{6A6455FE-B014-4833-BD12-79040D92B577}"/>
              </a:ext>
            </a:extLst>
          </p:cNvPr>
          <p:cNvSpPr>
            <a:spLocks noGrp="1"/>
          </p:cNvSpPr>
          <p:nvPr/>
        </p:nvSpPr>
        <p:spPr>
          <a:xfrm>
            <a:off x="2667000" y="6010275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MarineAgent API</a:t>
            </a:r>
          </a:p>
        </p:txBody>
      </p:sp>
      <p:sp>
        <p:nvSpPr>
          <p:cNvPr id="62" name="">
            <a:extLst>
              <a:ext uri="{FF2B5EF4-FFF2-40B4-BE49-F238E27FC236}">
                <ns2:creationId id="{0F24168B-710F-432E-9477-C0A8E3809767}"/>
              </a:ext>
            </a:extLst>
          </p:cNvPr>
          <p:cNvSpPr>
            <a:spLocks noGrp="1"/>
          </p:cNvSpPr>
          <p:nvPr/>
        </p:nvSpPr>
        <p:spPr>
          <a:xfrm>
            <a:off x="4229100" y="5953125"/>
            <a:ext cx="24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95D6CD"/>
                </a:solidFill>
              </a:defRPr>
            </a:pPr>
            <a:r>
              <a:rPr sz="2100" b="1">
                <a:solidFill>
                  <a:srgbClr val="95D6CD"/>
                </a:solidFill>
              </a:rPr>
              <a:t>→</a:t>
            </a:r>
          </a:p>
        </p:txBody>
      </p:sp>
      <p:sp>
        <p:nvSpPr>
          <p:cNvPr id="63" name="">
            <a:extLst>
              <a:ext uri="{FF2B5EF4-FFF2-40B4-BE49-F238E27FC236}">
                <ns2:creationId id="{0D3E8FBE-F354-4803-816E-CB4CC6B8E7F9}"/>
              </a:ext>
            </a:extLst>
          </p:cNvPr>
          <p:cNvSpPr>
            <a:spLocks noGrp="1"/>
          </p:cNvSpPr>
          <p:nvPr/>
        </p:nvSpPr>
        <p:spPr>
          <a:xfrm>
            <a:off x="4305300" y="582930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0A2D3C">
              <a:alpha val="80000"/>
            </a:srgbClr>
          </a:solidFill>
          <a:ln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64" name="">
            <a:extLst>
              <a:ext uri="{FF2B5EF4-FFF2-40B4-BE49-F238E27FC236}">
                <ns2:creationId id="{6D13A7A9-4549-41E1-BED9-A7B6E0C77E97}"/>
              </a:ext>
            </a:extLst>
          </p:cNvPr>
          <p:cNvSpPr>
            <a:spLocks noGrp="1"/>
          </p:cNvSpPr>
          <p:nvPr/>
        </p:nvSpPr>
        <p:spPr>
          <a:xfrm>
            <a:off x="4305300" y="5829300"/>
            <a:ext cx="1619250" cy="57150"/>
          </a:xfrm>
          <a:prstGeom prst="rect">
            <a:avLst/>
          </a:prstGeom>
          <a:solidFill>
            <a:srgbClr val="FFB7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>
              <a:ext uri="{FF2B5EF4-FFF2-40B4-BE49-F238E27FC236}">
                <ns2:creationId id="{76364744-3CBA-4F0A-A758-59B5CE3EC855}"/>
              </a:ext>
            </a:extLst>
          </p:cNvPr>
          <p:cNvSpPr>
            <a:spLocks noGrp="1"/>
          </p:cNvSpPr>
          <p:nvPr/>
        </p:nvSpPr>
        <p:spPr>
          <a:xfrm>
            <a:off x="4457700" y="6010275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HTTP 402</a:t>
            </a:r>
          </a:p>
        </p:txBody>
      </p:sp>
      <p:sp>
        <p:nvSpPr>
          <p:cNvPr id="66" name="">
            <a:extLst>
              <a:ext uri="{FF2B5EF4-FFF2-40B4-BE49-F238E27FC236}">
                <ns2:creationId id="{8681FEEA-3C27-4752-8722-84EB19919D71}"/>
              </a:ext>
            </a:extLst>
          </p:cNvPr>
          <p:cNvSpPr>
            <a:spLocks noGrp="1"/>
          </p:cNvSpPr>
          <p:nvPr/>
        </p:nvSpPr>
        <p:spPr>
          <a:xfrm>
            <a:off x="6019800" y="5953125"/>
            <a:ext cx="24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B74D"/>
                </a:solidFill>
              </a:defRPr>
            </a:pPr>
            <a:r>
              <a:rPr sz="2100" b="1">
                <a:solidFill>
                  <a:srgbClr val="FFB74D"/>
                </a:solidFill>
              </a:rPr>
              <a:t>→</a:t>
            </a:r>
          </a:p>
        </p:txBody>
      </p:sp>
      <p:sp>
        <p:nvSpPr>
          <p:cNvPr id="67" name="">
            <a:extLst>
              <a:ext uri="{FF2B5EF4-FFF2-40B4-BE49-F238E27FC236}">
                <ns2:creationId id="{2DBD5E6A-22D7-419E-A275-E9E76FD407B6}"/>
              </a:ext>
            </a:extLst>
          </p:cNvPr>
          <p:cNvSpPr>
            <a:spLocks noGrp="1"/>
          </p:cNvSpPr>
          <p:nvPr/>
        </p:nvSpPr>
        <p:spPr>
          <a:xfrm>
            <a:off x="6096000" y="582930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0A2D3C">
              <a:alpha val="80000"/>
            </a:srgbClr>
          </a:solidFill>
          <a:ln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68" name="">
            <a:extLst>
              <a:ext uri="{FF2B5EF4-FFF2-40B4-BE49-F238E27FC236}">
                <ns2:creationId id="{8DA34500-EA24-4AA5-B307-FA2982C3FC6B}"/>
              </a:ext>
            </a:extLst>
          </p:cNvPr>
          <p:cNvSpPr>
            <a:spLocks noGrp="1"/>
          </p:cNvSpPr>
          <p:nvPr/>
        </p:nvSpPr>
        <p:spPr>
          <a:xfrm>
            <a:off x="6096000" y="5829300"/>
            <a:ext cx="1619250" cy="57150"/>
          </a:xfrm>
          <a:prstGeom prst="rect">
            <a:avLst/>
          </a:prstGeom>
          <a:solidFill>
            <a:srgbClr val="B8F0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>
              <a:ext uri="{FF2B5EF4-FFF2-40B4-BE49-F238E27FC236}">
                <ns2:creationId id="{80D9405F-1E01-44A8-88E3-C12C4C95482D}"/>
              </a:ext>
            </a:extLst>
          </p:cNvPr>
          <p:cNvSpPr>
            <a:spLocks noGrp="1"/>
          </p:cNvSpPr>
          <p:nvPr/>
        </p:nvSpPr>
        <p:spPr>
          <a:xfrm>
            <a:off x="6248400" y="6010275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Algorand TestNet</a:t>
            </a:r>
          </a:p>
        </p:txBody>
      </p:sp>
      <p:sp>
        <p:nvSpPr>
          <p:cNvPr id="70" name="">
            <a:extLst>
              <a:ext uri="{FF2B5EF4-FFF2-40B4-BE49-F238E27FC236}">
                <ns2:creationId id="{057C1ACF-80C7-49A4-9B83-132EEC41DA9B}"/>
              </a:ext>
            </a:extLst>
          </p:cNvPr>
          <p:cNvSpPr>
            <a:spLocks noGrp="1"/>
          </p:cNvSpPr>
          <p:nvPr/>
        </p:nvSpPr>
        <p:spPr>
          <a:xfrm>
            <a:off x="7810500" y="5953125"/>
            <a:ext cx="247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B8F0C9"/>
                </a:solidFill>
              </a:defRPr>
            </a:pPr>
            <a:r>
              <a:rPr sz="2100" b="1">
                <a:solidFill>
                  <a:srgbClr val="B8F0C9"/>
                </a:solidFill>
              </a:rPr>
              <a:t>→</a:t>
            </a:r>
          </a:p>
        </p:txBody>
      </p:sp>
      <p:sp>
        <p:nvSpPr>
          <p:cNvPr id="71" name="">
            <a:extLst>
              <a:ext uri="{FF2B5EF4-FFF2-40B4-BE49-F238E27FC236}">
                <ns2:creationId id="{81E59CAD-B9F4-4B08-8FE2-58BB3642E906}"/>
              </a:ext>
            </a:extLst>
          </p:cNvPr>
          <p:cNvSpPr>
            <a:spLocks noGrp="1"/>
          </p:cNvSpPr>
          <p:nvPr/>
        </p:nvSpPr>
        <p:spPr>
          <a:xfrm>
            <a:off x="7886700" y="5829300"/>
            <a:ext cx="1619250" cy="533400"/>
          </a:xfrm>
          <a:prstGeom prst="roundRect">
            <a:avLst>
              <a:gd name="adj" fmla="val 14286"/>
            </a:avLst>
          </a:prstGeom>
          <a:solidFill>
            <a:srgbClr val="0A2D3C">
              <a:alpha val="80000"/>
            </a:srgbClr>
          </a:solidFill>
          <a:ln w="9525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72" name="">
            <a:extLst>
              <a:ext uri="{FF2B5EF4-FFF2-40B4-BE49-F238E27FC236}">
                <ns2:creationId id="{F6E0B9DC-8603-414B-8813-EB38023372EB}"/>
              </a:ext>
            </a:extLst>
          </p:cNvPr>
          <p:cNvSpPr>
            <a:spLocks noGrp="1"/>
          </p:cNvSpPr>
          <p:nvPr/>
        </p:nvSpPr>
        <p:spPr>
          <a:xfrm>
            <a:off x="7886700" y="5829300"/>
            <a:ext cx="1619250" cy="57150"/>
          </a:xfrm>
          <a:prstGeom prst="rect">
            <a:avLst/>
          </a:prstGeom>
          <a:solidFill>
            <a:srgbClr val="95D6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>
              <a:ext uri="{FF2B5EF4-FFF2-40B4-BE49-F238E27FC236}">
                <ns2:creationId id="{655106F8-32EE-4069-BB76-22C75D7E225E}"/>
              </a:ext>
            </a:extLst>
          </p:cNvPr>
          <p:cNvSpPr>
            <a:spLocks noGrp="1"/>
          </p:cNvSpPr>
          <p:nvPr/>
        </p:nvSpPr>
        <p:spPr>
          <a:xfrm>
            <a:off x="8039100" y="6010275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2EFE8"/>
                </a:solidFill>
              </a:defRPr>
            </a:pPr>
            <a:r>
              <a:rPr sz="1125" b="1">
                <a:solidFill>
                  <a:srgbClr val="F2EFE8"/>
                </a:solidFill>
              </a:rPr>
              <a:t>ETA Intelligence</a:t>
            </a:r>
          </a:p>
        </p:txBody>
      </p:sp>
    </p:spTree>
    <p:extLst>
      <p:ext uri="{BB962C8B-B14F-4D97-AF65-F5344CB8AC3E}">
        <ns3:creationId val="535324309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3131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Slide Number Placeholder 5">
            <a:extLst>
              <a:ext uri="{FF2B5EF4-FFF2-40B4-BE49-F238E27FC236}">
                <ns2:creationId id="{DA8CA49A-5A94-4317-9138-821C5592F9E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t/>
            </a:r>
          </a:p>
        </p:txBody>
      </p:sp>
      <p:sp>
        <p:nvSpPr>
          <p:cNvPr id="2" name="">
            <a:extLst>
              <a:ext uri="{FF2B5EF4-FFF2-40B4-BE49-F238E27FC236}">
                <ns2:creationId id="{792D8F97-8EDC-4C3C-B564-93E9819E09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2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ns2:creationId id="{41BD0CA9-746D-48B6-9E2D-C6E4A0BDF9A3}"/>
              </a:ext>
            </a:extLst>
          </p:cNvPr>
          <p:cNvSpPr>
            <a:spLocks noGrp="1"/>
          </p:cNvSpPr>
          <p:nvPr/>
        </p:nvSpPr>
        <p:spPr>
          <a:xfrm>
            <a:off x="0" y="2857500"/>
            <a:ext cx="12192000" cy="4000500"/>
          </a:xfrm>
          <a:prstGeom prst="rect">
            <a:avLst/>
          </a:prstGeom>
          <a:solidFill>
            <a:srgbClr val="0313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19F9B9D7-230B-49D2-BD9A-6A9D33A769CE}"/>
              </a:ext>
            </a:extLst>
          </p:cNvPr>
          <p:cNvSpPr>
            <a:spLocks noGrp="1"/>
          </p:cNvSpPr>
          <p:nvPr/>
        </p:nvSpPr>
        <p:spPr>
          <a:xfrm>
            <a:off x="-1714500" y="-1524000"/>
            <a:ext cx="4953000" cy="4953000"/>
          </a:xfrm>
          <a:prstGeom prst="ellipse">
            <a:avLst/>
          </a:prstGeom>
          <a:solidFill>
            <a:srgbClr val="FFB74D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9457E235-4A35-4870-944A-420E388BC151}"/>
              </a:ext>
            </a:extLst>
          </p:cNvPr>
          <p:cNvSpPr>
            <a:spLocks noGrp="1"/>
          </p:cNvSpPr>
          <p:nvPr/>
        </p:nvSpPr>
        <p:spPr>
          <a:xfrm>
            <a:off x="8477250" y="-1143000"/>
            <a:ext cx="4476750" cy="4476750"/>
          </a:xfrm>
          <a:prstGeom prst="ellipse">
            <a:avLst/>
          </a:prstGeom>
          <a:solidFill>
            <a:srgbClr val="4CAFA1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>
              <a:ext uri="{FF2B5EF4-FFF2-40B4-BE49-F238E27FC236}">
                <ns2:creationId id="{364D9CDA-B359-4DC9-AB36-BC30D6FB94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C8186740-3789-4AD3-B82B-D79F55537546}"/>
              </a:ext>
            </a:extLst>
          </p:cNvPr>
          <p:cNvSpPr>
            <a:spLocks noGrp="1"/>
          </p:cNvSpPr>
          <p:nvPr/>
        </p:nvSpPr>
        <p:spPr>
          <a:xfrm>
            <a:off x="6096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13513CCB-386C-4586-99BC-42D3F80AD565}"/>
              </a:ext>
            </a:extLst>
          </p:cNvPr>
          <p:cNvSpPr>
            <a:spLocks noGrp="1"/>
          </p:cNvSpPr>
          <p:nvPr/>
        </p:nvSpPr>
        <p:spPr>
          <a:xfrm>
            <a:off x="12192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ns2:creationId id="{FBF94E21-5C06-4A5E-8C64-C1F03E92DB5F}"/>
              </a:ext>
            </a:extLst>
          </p:cNvPr>
          <p:cNvSpPr>
            <a:spLocks noGrp="1"/>
          </p:cNvSpPr>
          <p:nvPr/>
        </p:nvSpPr>
        <p:spPr>
          <a:xfrm>
            <a:off x="18288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7EB53E62-1F96-439A-A92E-646AE0EEE8F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B2195AF1-03F8-4F44-93FF-4F5628FA5A61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18B830B-D470-48DB-82D6-962F7E001562}"/>
              </a:ext>
            </a:extLst>
          </p:cNvPr>
          <p:cNvSpPr>
            <a:spLocks noGrp="1"/>
          </p:cNvSpPr>
          <p:nvPr/>
        </p:nvSpPr>
        <p:spPr>
          <a:xfrm>
            <a:off x="36576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F2A3137F-6B8B-4C43-8608-862A9EC51D43}"/>
              </a:ext>
            </a:extLst>
          </p:cNvPr>
          <p:cNvSpPr>
            <a:spLocks noGrp="1"/>
          </p:cNvSpPr>
          <p:nvPr/>
        </p:nvSpPr>
        <p:spPr>
          <a:xfrm>
            <a:off x="42672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37A19957-7214-46BF-8C37-93FB722B37D3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068D733A-DEEF-49E2-8E8C-C24C3C50FB29}"/>
              </a:ext>
            </a:extLst>
          </p:cNvPr>
          <p:cNvSpPr>
            <a:spLocks noGrp="1"/>
          </p:cNvSpPr>
          <p:nvPr/>
        </p:nvSpPr>
        <p:spPr>
          <a:xfrm>
            <a:off x="54864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D3C1B191-6C56-4289-BE93-91B09C88A4D1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9FDF18B1-A46E-4447-A830-8ADF373763BB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371D8B89-7D39-4541-BE43-770A0D5DA9B2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CFF93CF9-1809-4B26-9F8A-8F87F25057BA}"/>
              </a:ext>
            </a:extLst>
          </p:cNvPr>
          <p:cNvSpPr>
            <a:spLocks noGrp="1"/>
          </p:cNvSpPr>
          <p:nvPr/>
        </p:nvSpPr>
        <p:spPr>
          <a:xfrm>
            <a:off x="79248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92FBDD67-638B-442D-89A3-1AEA07B4B071}"/>
              </a:ext>
            </a:extLst>
          </p:cNvPr>
          <p:cNvSpPr>
            <a:spLocks noGrp="1"/>
          </p:cNvSpPr>
          <p:nvPr/>
        </p:nvSpPr>
        <p:spPr>
          <a:xfrm>
            <a:off x="85344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9AD3E89D-2DA3-4CF6-8211-522E12AD2CD6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3419FF6A-2F7A-4E15-9DE2-5ABB126BE4D5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95541FD3-B4A3-4F30-A550-5B2EF450D974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555A6695-57B2-4093-9996-6B42B43967D7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765CAC34-3002-4E98-B585-F05575706652}"/>
              </a:ext>
            </a:extLst>
          </p:cNvPr>
          <p:cNvSpPr>
            <a:spLocks noGrp="1"/>
          </p:cNvSpPr>
          <p:nvPr/>
        </p:nvSpPr>
        <p:spPr>
          <a:xfrm>
            <a:off x="115824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E944F1AB-10D9-4566-9F17-D0D3AB738A6A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9525" cy="6858000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A085E989-8796-411B-9C39-72B8D6EE10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7250A9F7-A847-4F77-B5BB-CA0273189070}"/>
              </a:ext>
            </a:extLst>
          </p:cNvPr>
          <p:cNvSpPr>
            <a:spLocks noGrp="1"/>
          </p:cNvSpPr>
          <p:nvPr/>
        </p:nvSpPr>
        <p:spPr>
          <a:xfrm>
            <a:off x="0" y="6096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C779BF47-10BB-4EDD-A0FE-58F6D56FF507}"/>
              </a:ext>
            </a:extLst>
          </p:cNvPr>
          <p:cNvSpPr>
            <a:spLocks noGrp="1"/>
          </p:cNvSpPr>
          <p:nvPr/>
        </p:nvSpPr>
        <p:spPr>
          <a:xfrm>
            <a:off x="0" y="12192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3EE6C0D5-3AB7-446D-876A-5894CC14153F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BA8C78E0-9715-44E7-B424-A1A5A8DB6AE8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26FC8FE4-351B-49AE-99C9-74B0A1986FD3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A0373CE3-6A5E-45E5-9F1B-CCD9C66B566D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1571B401-7623-40D8-B97E-D1037362196F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A1502B01-96C3-45E4-BB01-C2872CC5E4A0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F3096D18-8525-4D55-9189-7B112D705758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9FBB9E12-2E23-4A3E-94F2-964FD7E02A2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45EB4A3A-9D91-41E8-A061-34529287F015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9525"/>
          </a:xfrm>
          <a:prstGeom prst="rect">
            <a:avLst/>
          </a:prstGeom>
          <a:solidFill>
            <a:srgbClr val="FFFFFF">
              <a:alpha val="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9BBAD540-C385-4909-8230-0C99D8CABFE8}"/>
              </a:ext>
            </a:extLst>
          </p:cNvPr>
          <p:cNvSpPr>
            <a:spLocks noGrp="1"/>
          </p:cNvSpPr>
          <p:nvPr/>
        </p:nvSpPr>
        <p:spPr>
          <a:xfrm>
            <a:off x="742950" y="5524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9FD8CF"/>
                </a:solidFill>
              </a:defRPr>
            </a:pPr>
            <a:r>
              <a:rPr sz="1050" b="1">
                <a:solidFill>
                  <a:srgbClr val="9FD8CF"/>
                </a:solidFill>
              </a:rPr>
              <a:t>FUTURE ETA PIPELINE</a:t>
            </a:r>
          </a:p>
        </p:txBody>
      </p:sp>
      <p:sp>
        <p:nvSpPr>
          <p:cNvPr id="40" name="">
            <a:extLst>
              <a:ext uri="{FF2B5EF4-FFF2-40B4-BE49-F238E27FC236}">
                <ns2:creationId id="{9F44DBB0-965C-44A1-B807-C3058ACEDCB6}"/>
              </a:ext>
            </a:extLst>
          </p:cNvPr>
          <p:cNvSpPr>
            <a:spLocks noGrp="1"/>
          </p:cNvSpPr>
          <p:nvPr/>
        </p:nvSpPr>
        <p:spPr>
          <a:xfrm>
            <a:off x="704850" y="1047750"/>
            <a:ext cx="6858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2EFE8"/>
                </a:solidFill>
              </a:defRPr>
            </a:pPr>
            <a:r>
              <a:rPr sz="3000" b="1">
                <a:solidFill>
                  <a:srgbClr val="F2EFE8"/>
                </a:solidFill>
              </a:rPr>
              <a:t>Real ETA Risk Requires More Than AIS</a:t>
            </a:r>
          </a:p>
        </p:txBody>
      </p:sp>
      <p:sp>
        <p:nvSpPr>
          <p:cNvPr id="41" name="">
            <a:extLst>
              <a:ext uri="{FF2B5EF4-FFF2-40B4-BE49-F238E27FC236}">
                <ns2:creationId id="{01B1AA0D-146E-47EB-8991-C478140D9DFE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790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BCD0D2"/>
                </a:solidFill>
              </a:defRPr>
            </a:pPr>
            <a:r>
              <a:rPr sz="1425" b="0">
                <a:solidFill>
                  <a:srgbClr val="BCD0D2"/>
                </a:solidFill>
              </a:rPr>
              <a:t>MarineAgent sells operational judgment, not raw coordinates. ETA risk is produced from multiple maritime signals combined into a realistic arrival forecast.</a:t>
            </a:r>
          </a:p>
        </p:txBody>
      </p:sp>
      <p:sp>
        <p:nvSpPr>
          <p:cNvPr id="42" name="">
            <a:extLst>
              <a:ext uri="{FF2B5EF4-FFF2-40B4-BE49-F238E27FC236}">
                <ns2:creationId id="{F772C693-7A1C-4AFB-B0BC-6FD6AB3725A7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3429000" cy="2000250"/>
          </a:xfrm>
          <a:prstGeom prst="roundRect">
            <a:avLst>
              <a:gd name="adj" fmla="val 3810"/>
            </a:avLst>
          </a:prstGeom>
          <a:solidFill>
            <a:srgbClr val="0A2D3C">
              <a:alpha val="80000"/>
            </a:srgbClr>
          </a:solidFill>
          <a:ln w="10478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16BC2FA8-DA21-474D-AB97-D9C5D5475107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3429000" cy="57150"/>
          </a:xfrm>
          <a:prstGeom prst="rect">
            <a:avLst/>
          </a:prstGeom>
          <a:solidFill>
            <a:srgbClr val="95D6C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94E76C8E-B780-4C34-BC8A-2A96B91228DD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Live Inputs</a:t>
            </a:r>
          </a:p>
        </p:txBody>
      </p:sp>
      <p:sp>
        <p:nvSpPr>
          <p:cNvPr id="45" name="">
            <a:extLst>
              <a:ext uri="{FF2B5EF4-FFF2-40B4-BE49-F238E27FC236}">
                <ns2:creationId id="{43EA9D52-50B7-4300-A8D2-83CB52A38A7F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30099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Live AIS position, speed, course, destination</a:t>
            </a:r>
          </a:p>
          <a:p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Remaining sea-route distance</a:t>
            </a:r>
          </a:p>
          <a:p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Vessel profile, draught, service speed</a:t>
            </a:r>
          </a:p>
        </p:txBody>
      </p:sp>
      <p:sp>
        <p:nvSpPr>
          <p:cNvPr id="46" name="">
            <a:extLst>
              <a:ext uri="{FF2B5EF4-FFF2-40B4-BE49-F238E27FC236}">
                <ns2:creationId id="{B8ABD9F2-573D-4850-B172-24F63FCCEFF9}"/>
              </a:ext>
            </a:extLst>
          </p:cNvPr>
          <p:cNvSpPr>
            <a:spLocks noGrp="1"/>
          </p:cNvSpPr>
          <p:nvPr/>
        </p:nvSpPr>
        <p:spPr>
          <a:xfrm>
            <a:off x="4381500" y="2914650"/>
            <a:ext cx="3429000" cy="2000250"/>
          </a:xfrm>
          <a:prstGeom prst="roundRect">
            <a:avLst>
              <a:gd name="adj" fmla="val 3810"/>
            </a:avLst>
          </a:prstGeom>
          <a:solidFill>
            <a:srgbClr val="0A2D3C">
              <a:alpha val="80000"/>
            </a:srgbClr>
          </a:solidFill>
          <a:ln w="10478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47" name="">
            <a:extLst>
              <a:ext uri="{FF2B5EF4-FFF2-40B4-BE49-F238E27FC236}">
                <ns2:creationId id="{7D2A6426-E629-4D1F-8F95-272AB9BF27B8}"/>
              </a:ext>
            </a:extLst>
          </p:cNvPr>
          <p:cNvSpPr>
            <a:spLocks noGrp="1"/>
          </p:cNvSpPr>
          <p:nvPr/>
        </p:nvSpPr>
        <p:spPr>
          <a:xfrm>
            <a:off x="4381500" y="2914650"/>
            <a:ext cx="3429000" cy="57150"/>
          </a:xfrm>
          <a:prstGeom prst="rect">
            <a:avLst/>
          </a:prstGeom>
          <a:solidFill>
            <a:srgbClr val="FFB7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>
              <a:ext uri="{FF2B5EF4-FFF2-40B4-BE49-F238E27FC236}">
                <ns2:creationId id="{A6065DEF-8159-417B-A627-BCF274B747BA}"/>
              </a:ext>
            </a:extLst>
          </p:cNvPr>
          <p:cNvSpPr>
            <a:spLocks noGrp="1"/>
          </p:cNvSpPr>
          <p:nvPr/>
        </p:nvSpPr>
        <p:spPr>
          <a:xfrm>
            <a:off x="4591050" y="31242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Delay Drivers</a:t>
            </a:r>
          </a:p>
        </p:txBody>
      </p:sp>
      <p:sp>
        <p:nvSpPr>
          <p:cNvPr id="49" name="">
            <a:extLst>
              <a:ext uri="{FF2B5EF4-FFF2-40B4-BE49-F238E27FC236}">
                <ns2:creationId id="{30B76C07-22DB-490E-88A4-F249E2861F19}"/>
              </a:ext>
            </a:extLst>
          </p:cNvPr>
          <p:cNvSpPr>
            <a:spLocks noGrp="1"/>
          </p:cNvSpPr>
          <p:nvPr/>
        </p:nvSpPr>
        <p:spPr>
          <a:xfrm>
            <a:off x="4591050" y="3543300"/>
            <a:ext cx="30099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Marine weather and sea-state forecast</a:t>
            </a:r>
          </a:p>
          <a:p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Port congestion and berth delay</a:t>
            </a:r>
          </a:p>
          <a:p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Historical performance and uncertainty buffer</a:t>
            </a:r>
          </a:p>
        </p:txBody>
      </p:sp>
      <p:sp>
        <p:nvSpPr>
          <p:cNvPr id="50" name="">
            <a:extLst>
              <a:ext uri="{FF2B5EF4-FFF2-40B4-BE49-F238E27FC236}">
                <ns2:creationId id="{AC6D17D4-EB62-42CD-8D6A-DBCF376516FC}"/>
              </a:ext>
            </a:extLst>
          </p:cNvPr>
          <p:cNvSpPr>
            <a:spLocks noGrp="1"/>
          </p:cNvSpPr>
          <p:nvPr/>
        </p:nvSpPr>
        <p:spPr>
          <a:xfrm>
            <a:off x="8058150" y="2914650"/>
            <a:ext cx="3429000" cy="2000250"/>
          </a:xfrm>
          <a:prstGeom prst="roundRect">
            <a:avLst>
              <a:gd name="adj" fmla="val 3810"/>
            </a:avLst>
          </a:prstGeom>
          <a:solidFill>
            <a:srgbClr val="0A2D3C">
              <a:alpha val="80000"/>
            </a:srgbClr>
          </a:solidFill>
          <a:ln w="10478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1" name="">
            <a:extLst>
              <a:ext uri="{FF2B5EF4-FFF2-40B4-BE49-F238E27FC236}">
                <ns2:creationId id="{FC8409D2-AC7C-4810-8E0E-6E5F19FA2AD4}"/>
              </a:ext>
            </a:extLst>
          </p:cNvPr>
          <p:cNvSpPr>
            <a:spLocks noGrp="1"/>
          </p:cNvSpPr>
          <p:nvPr/>
        </p:nvSpPr>
        <p:spPr>
          <a:xfrm>
            <a:off x="8058150" y="2914650"/>
            <a:ext cx="3429000" cy="57150"/>
          </a:xfrm>
          <a:prstGeom prst="rect">
            <a:avLst/>
          </a:prstGeom>
          <a:solidFill>
            <a:srgbClr val="B8F0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>
              <a:ext uri="{FF2B5EF4-FFF2-40B4-BE49-F238E27FC236}">
                <ns2:creationId id="{A1C2CE7E-6B32-4EAA-A8E8-6141314646A8}"/>
              </a:ext>
            </a:extLst>
          </p:cNvPr>
          <p:cNvSpPr>
            <a:spLocks noGrp="1"/>
          </p:cNvSpPr>
          <p:nvPr/>
        </p:nvSpPr>
        <p:spPr>
          <a:xfrm>
            <a:off x="8267700" y="31242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EFE8"/>
                </a:solidFill>
              </a:defRPr>
            </a:pPr>
            <a:r>
              <a:rPr sz="1350" b="1">
                <a:solidFill>
                  <a:srgbClr val="F2EFE8"/>
                </a:solidFill>
              </a:rPr>
              <a:t>Operational Decision</a:t>
            </a:r>
          </a:p>
        </p:txBody>
      </p:sp>
      <p:sp>
        <p:nvSpPr>
          <p:cNvPr id="53" name="">
            <a:extLst>
              <a:ext uri="{FF2B5EF4-FFF2-40B4-BE49-F238E27FC236}">
                <ns2:creationId id="{5F6A7033-F36E-4515-8E6F-BF2FC117D90B}"/>
              </a:ext>
            </a:extLst>
          </p:cNvPr>
          <p:cNvSpPr>
            <a:spLocks noGrp="1"/>
          </p:cNvSpPr>
          <p:nvPr/>
        </p:nvSpPr>
        <p:spPr>
          <a:xfrm>
            <a:off x="8267700" y="3543300"/>
            <a:ext cx="30099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Supplier ETA credibility score</a:t>
            </a:r>
          </a:p>
          <a:p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Realistic ETA and delay risk</a:t>
            </a:r>
          </a:p>
          <a:p>
            <a:pPr algn="l">
              <a:defRPr sz="1350" b="0">
                <a:solidFill>
                  <a:srgbClr val="BCD0D2"/>
                </a:solidFill>
              </a:defRPr>
            </a:pPr>
            <a:r>
              <a:rPr sz="1350" b="0">
                <a:solidFill>
                  <a:srgbClr val="BCD0D2"/>
                </a:solidFill>
              </a:rPr>
              <a:t>• Recommended customer and warehouse action</a:t>
            </a:r>
          </a:p>
        </p:txBody>
      </p:sp>
      <p:sp>
        <p:nvSpPr>
          <p:cNvPr id="54" name="">
            <a:extLst>
              <a:ext uri="{FF2B5EF4-FFF2-40B4-BE49-F238E27FC236}">
                <ns2:creationId id="{5C4F5C74-1469-4919-A2DC-8A50070B7248}"/>
              </a:ext>
            </a:extLst>
          </p:cNvPr>
          <p:cNvSpPr>
            <a:spLocks noGrp="1"/>
          </p:cNvSpPr>
          <p:nvPr/>
        </p:nvSpPr>
        <p:spPr>
          <a:xfrm>
            <a:off x="704850" y="5314950"/>
            <a:ext cx="10801350" cy="1200150"/>
          </a:xfrm>
          <a:prstGeom prst="roundRect">
            <a:avLst>
              <a:gd name="adj" fmla="val 7547"/>
            </a:avLst>
          </a:prstGeom>
          <a:solidFill>
            <a:srgbClr val="082635">
              <a:alpha val="90196"/>
            </a:srgbClr>
          </a:solidFill>
          <a:ln w="11430">
            <a:solidFill>
              <a:srgbClr val="FFFFFF">
                <a:alpha val="12157"/>
              </a:srgbClr>
            </a:solidFill>
            <a:prstDash val="solid"/>
          </a:ln>
        </p:spPr>
      </p:sp>
      <p:sp>
        <p:nvSpPr>
          <p:cNvPr id="55" name="">
            <a:extLst>
              <a:ext uri="{FF2B5EF4-FFF2-40B4-BE49-F238E27FC236}">
                <ns2:creationId id="{FC4B6000-C5CD-4338-B29E-64A938102F08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FD8CF"/>
                </a:solidFill>
              </a:defRPr>
            </a:pPr>
            <a:r>
              <a:rPr sz="1125" b="1">
                <a:solidFill>
                  <a:srgbClr val="9FD8CF"/>
                </a:solidFill>
              </a:rPr>
              <a:t>ETA risk calculation</a:t>
            </a:r>
          </a:p>
        </p:txBody>
      </p:sp>
      <p:sp>
        <p:nvSpPr>
          <p:cNvPr id="56" name="">
            <a:extLst>
              <a:ext uri="{FF2B5EF4-FFF2-40B4-BE49-F238E27FC236}">
                <ns2:creationId id="{0E07E47D-104E-4106-8C1D-98ECF1CCECBB}"/>
              </a:ext>
            </a:extLst>
          </p:cNvPr>
          <p:cNvSpPr>
            <a:spLocks noGrp="1"/>
          </p:cNvSpPr>
          <p:nvPr/>
        </p:nvSpPr>
        <p:spPr>
          <a:xfrm>
            <a:off x="952500" y="5753100"/>
            <a:ext cx="1028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2EFE8"/>
                </a:solidFill>
              </a:defRPr>
            </a:pPr>
            <a:r>
              <a:rPr sz="825" b="0">
                <a:solidFill>
                  <a:srgbClr val="F2EFE8"/>
                </a:solidFill>
              </a:rPr>
              <a:t>Realistic ETA =</a:t>
            </a:r>
            <a:br/>
            <a:r>
              <a:rPr sz="825" b="0">
                <a:solidFill>
                  <a:srgbClr val="F2EFE8"/>
                </a:solidFill>
              </a:rPr>
              <a:t>now</a:t>
            </a:r>
            <a:br/>
            <a:r>
              <a:rPr sz="825" b="0">
                <a:solidFill>
                  <a:srgbClr val="F2EFE8"/>
                </a:solidFill>
              </a:rPr>
              <a:t>+ remaining sea-route distance / effective speed</a:t>
            </a:r>
            <a:br/>
            <a:r>
              <a:rPr sz="825" b="0">
                <a:solidFill>
                  <a:srgbClr val="F2EFE8"/>
                </a:solidFill>
              </a:rPr>
              <a:t>+ weather delay</a:t>
            </a:r>
            <a:br/>
            <a:r>
              <a:rPr sz="825" b="0">
                <a:solidFill>
                  <a:srgbClr val="F2EFE8"/>
                </a:solidFill>
              </a:rPr>
              <a:t>+ port congestion delay</a:t>
            </a:r>
            <a:br/>
            <a:r>
              <a:rPr sz="825" b="0">
                <a:solidFill>
                  <a:srgbClr val="F2EFE8"/>
                </a:solidFill>
              </a:rPr>
              <a:t>+ uncertainty buffer</a:t>
            </a:r>
          </a:p>
        </p:txBody>
      </p:sp>
      <p:sp>
        <p:nvSpPr>
          <p:cNvPr id="57" name="">
            <a:extLst>
              <a:ext uri="{FF2B5EF4-FFF2-40B4-BE49-F238E27FC236}">
                <ns2:creationId id="{7A7DE850-63E6-4E45-954C-914250456418}"/>
              </a:ext>
            </a:extLst>
          </p:cNvPr>
          <p:cNvSpPr>
            <a:spLocks noGrp="1"/>
          </p:cNvSpPr>
          <p:nvPr/>
        </p:nvSpPr>
        <p:spPr>
          <a:xfrm>
            <a:off x="952500" y="6610350"/>
            <a:ext cx="9334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BCD0D2"/>
                </a:solidFill>
              </a:defRPr>
            </a:pPr>
            <a:r>
              <a:rPr sz="825" b="0">
                <a:solidFill>
                  <a:srgbClr val="BCD0D2"/>
                </a:solidFill>
              </a:rPr>
              <a:t>Future providers: AIS APIs, maritime routing APIs, marine weather APIs, and port congestion APIs.</a:t>
            </a:r>
          </a:p>
        </p:txBody>
      </p:sp>
    </p:spTree>
    <p:extLst>
      <p:ext uri="{BB962C8B-B14F-4D97-AF65-F5344CB8AC3E}">
        <ns3:creationId val="2131793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2026-06-06T19:17:58.8590000Z</dcterms:created>
  <dcterms:modified xsi:type="dcterms:W3CDTF">2026-06-06T19:17:58.8590000Z</dcterms:modified>
</coreProperties>
</file>